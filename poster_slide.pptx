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999E4AC-B144-4B8B-A942-659202C3E9B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771A49D-AE6A-449D-8904-BF6A6D7B61D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E3624F-EFA3-4388-A4E4-7178E88B3CBC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3C4F76-070E-4FDE-B42C-51399A2BBA88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0D25B1-B42C-4136-A4C3-2E32375BB63D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E41639-9790-4AED-8D49-5BFB4DB4C529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E57EEA-C3C4-4882-8EB6-D92758E6708D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BA77BC-CD0C-46B8-934E-7E569573E417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1A8CA9-15BA-473E-BBA6-911C50825E5E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BB4E3E8-CE06-46C4-B75A-5C2B6737B86C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C30890D-46EC-43F7-9D03-A7B611F8B2E2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C22587-3828-4686-B9DB-3E32ACA62D69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icon to add picture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7B5E03-E9BD-4557-AE44-E75F49956CD6}" type="slidenum">
              <a:rPr lang="en-US" sz="1200" b="0" u="none" strike="noStrike">
                <a:solidFill>
                  <a:schemeClr val="lt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457200" y="228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201" strike="noStrike">
                <a:solidFill>
                  <a:srgbClr val="00b050"/>
                </a:solidFill>
                <a:effectLst/>
                <a:uFillTx/>
                <a:latin typeface="Bahnschrift SemiBold"/>
                <a:ea typeface="Calibri"/>
              </a:rPr>
              <a:t>CENG596 · INFORMATION RETRIEVAL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457200" y="621720"/>
            <a:ext cx="9067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Georgia"/>
              </a:rPr>
              <a:t>The Effect of Query Expansion </a:t>
            </a:r>
            <a:r>
              <a:rPr lang="tr-TR" sz="3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Georgia"/>
              </a:rPr>
              <a:t>and Neural Re-ranking </a:t>
            </a:r>
            <a:r>
              <a:rPr lang="en-US" sz="3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Georgia"/>
              </a:rPr>
              <a:t>on BM25 Retrieval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9677520" y="587520"/>
            <a:ext cx="202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99" strike="noStrike">
                <a:solidFill>
                  <a:srgbClr val="00b050"/>
                </a:solidFill>
                <a:effectLst/>
                <a:uFillTx/>
                <a:latin typeface="Bahnschrift SemiBold"/>
                <a:ea typeface="Calibri"/>
              </a:rPr>
              <a:t>FALSE POSITIVES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9677520" y="861840"/>
            <a:ext cx="202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457200">
              <a:lnSpc>
                <a:spcPts val="1701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Baran Boloğur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457200">
              <a:lnSpc>
                <a:spcPts val="1701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Yunus Emre Keleş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484200" y="1722600"/>
            <a:ext cx="11183040" cy="360"/>
          </a:xfrm>
          <a:prstGeom prst="line">
            <a:avLst/>
          </a:prstGeom>
          <a:ln w="12700">
            <a:solidFill>
              <a:srgbClr val="1b3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"/>
          <p:cNvSpPr/>
          <p:nvPr/>
        </p:nvSpPr>
        <p:spPr>
          <a:xfrm>
            <a:off x="521280" y="19072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150" strike="noStrike">
                <a:solidFill>
                  <a:srgbClr val="00b050"/>
                </a:solidFill>
                <a:effectLst/>
                <a:uFillTx/>
                <a:latin typeface="Bahnschrift SemiBold"/>
                <a:ea typeface="Calibri"/>
              </a:rPr>
              <a:t>MOTIVATION &amp; GOAL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6"/>
          <p:cNvSpPr/>
          <p:nvPr/>
        </p:nvSpPr>
        <p:spPr>
          <a:xfrm>
            <a:off x="506160" y="2184840"/>
            <a:ext cx="4770720" cy="11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285840" indent="-285840" defTabSz="457200">
              <a:lnSpc>
                <a:spcPts val="2001"/>
              </a:lnSpc>
              <a:buClr>
                <a:srgbClr val="0d0d0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Can query expansion or neural re-ranking make BM25 retrieve better documents?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ts val="2001"/>
              </a:lnSpc>
              <a:buClr>
                <a:srgbClr val="0d0d0d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Five configurations tested on the AP / TREC collection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457200">
              <a:lnSpc>
                <a:spcPts val="2001"/>
              </a:lnSpc>
              <a:buClr>
                <a:srgbClr val="0d0d0d"/>
              </a:buClr>
              <a:buFont typeface="Arial"/>
              <a:buChar char="•"/>
            </a:pPr>
            <a:r>
              <a:rPr lang="tr-TR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S</a:t>
            </a: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cored by MAP, P@10 and nDCG.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7"/>
          <p:cNvSpPr/>
          <p:nvPr/>
        </p:nvSpPr>
        <p:spPr>
          <a:xfrm>
            <a:off x="487800" y="356148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150" strike="noStrike">
                <a:solidFill>
                  <a:srgbClr val="00b050"/>
                </a:solidFill>
                <a:effectLst/>
                <a:uFillTx/>
                <a:latin typeface="Bahnschrift SemiBold"/>
                <a:ea typeface="Calibri"/>
              </a:rPr>
              <a:t>APPROACH — FIVE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8"/>
          <p:cNvSpPr/>
          <p:nvPr/>
        </p:nvSpPr>
        <p:spPr>
          <a:xfrm>
            <a:off x="506160" y="3982680"/>
            <a:ext cx="145800" cy="145800"/>
          </a:xfrm>
          <a:prstGeom prst="ellipse">
            <a:avLst/>
          </a:prstGeom>
          <a:solidFill>
            <a:srgbClr val="1e9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9"/>
          <p:cNvSpPr/>
          <p:nvPr/>
        </p:nvSpPr>
        <p:spPr>
          <a:xfrm>
            <a:off x="776880" y="3861720"/>
            <a:ext cx="449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15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BM25 Baseline  </a:t>
            </a:r>
            <a:r>
              <a:rPr lang="tr-TR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- </a:t>
            </a: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Standard ranking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"/>
          <p:cNvSpPr/>
          <p:nvPr/>
        </p:nvSpPr>
        <p:spPr>
          <a:xfrm>
            <a:off x="507600" y="4323600"/>
            <a:ext cx="145800" cy="145800"/>
          </a:xfrm>
          <a:prstGeom prst="ellipse">
            <a:avLst/>
          </a:prstGeom>
          <a:solidFill>
            <a:srgbClr val="1e9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1"/>
          <p:cNvSpPr/>
          <p:nvPr/>
        </p:nvSpPr>
        <p:spPr>
          <a:xfrm>
            <a:off x="776880" y="4202640"/>
            <a:ext cx="449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15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+ Bo1  </a:t>
            </a:r>
            <a:r>
              <a:rPr lang="tr-TR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- </a:t>
            </a: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PRF, statistical method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2"/>
          <p:cNvSpPr/>
          <p:nvPr/>
        </p:nvSpPr>
        <p:spPr>
          <a:xfrm>
            <a:off x="506160" y="4664160"/>
            <a:ext cx="145800" cy="145800"/>
          </a:xfrm>
          <a:prstGeom prst="ellipse">
            <a:avLst/>
          </a:prstGeom>
          <a:solidFill>
            <a:srgbClr val="1e9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lang="tr-T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13"/>
          <p:cNvSpPr/>
          <p:nvPr/>
        </p:nvSpPr>
        <p:spPr>
          <a:xfrm>
            <a:off x="776880" y="4550040"/>
            <a:ext cx="449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15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+ RM3  </a:t>
            </a:r>
            <a:r>
              <a:rPr lang="tr-TR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- </a:t>
            </a: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PRF, probabilistic language model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506160" y="5040360"/>
            <a:ext cx="145800" cy="145800"/>
          </a:xfrm>
          <a:prstGeom prst="ellipse">
            <a:avLst/>
          </a:prstGeom>
          <a:solidFill>
            <a:srgbClr val="1e9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5"/>
          <p:cNvSpPr/>
          <p:nvPr/>
        </p:nvSpPr>
        <p:spPr>
          <a:xfrm>
            <a:off x="776880" y="4924800"/>
            <a:ext cx="449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15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+ WordNet  </a:t>
            </a:r>
            <a:r>
              <a:rPr lang="tr-TR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- </a:t>
            </a: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Thesaurus synonyms &amp; hypernyms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6"/>
          <p:cNvSpPr/>
          <p:nvPr/>
        </p:nvSpPr>
        <p:spPr>
          <a:xfrm>
            <a:off x="506160" y="5385600"/>
            <a:ext cx="145800" cy="145800"/>
          </a:xfrm>
          <a:prstGeom prst="ellipse">
            <a:avLst/>
          </a:prstGeom>
          <a:solidFill>
            <a:srgbClr val="1e9e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7"/>
          <p:cNvSpPr/>
          <p:nvPr/>
        </p:nvSpPr>
        <p:spPr>
          <a:xfrm>
            <a:off x="776880" y="5272200"/>
            <a:ext cx="4499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15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+ Neural  </a:t>
            </a:r>
            <a:r>
              <a:rPr lang="tr-TR" sz="14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Bold"/>
                <a:ea typeface="Calibri"/>
              </a:rPr>
              <a:t>- </a:t>
            </a:r>
            <a:r>
              <a:rPr lang="en-US" sz="1400" b="0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Bahnschrift SemiLight"/>
                <a:ea typeface="Calibri"/>
              </a:rPr>
              <a:t>MiniLM cross-encoder re-ranks top 100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8"/>
          <p:cNvSpPr/>
          <p:nvPr/>
        </p:nvSpPr>
        <p:spPr>
          <a:xfrm>
            <a:off x="506160" y="5885640"/>
            <a:ext cx="4586760" cy="776880"/>
          </a:xfrm>
          <a:prstGeom prst="roundRect">
            <a:avLst>
              <a:gd name="adj" fmla="val 7059"/>
            </a:avLst>
          </a:prstGeom>
          <a:solidFill>
            <a:srgbClr val="0e8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9"/>
          <p:cNvSpPr/>
          <p:nvPr/>
        </p:nvSpPr>
        <p:spPr>
          <a:xfrm>
            <a:off x="731520" y="585612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ts val="18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Bahnschrift SemiBold"/>
                <a:ea typeface="Calibri"/>
              </a:rPr>
              <a:t>Bo1 wins overall (MAP +24%). </a:t>
            </a:r>
            <a:r>
              <a:rPr lang="en-US" sz="1400" b="0" u="none" strike="noStrike">
                <a:solidFill>
                  <a:srgbClr val="e6f2f1"/>
                </a:solidFill>
                <a:effectLst/>
                <a:uFillTx/>
                <a:latin typeface="Bahnschrift SemiBold"/>
                <a:ea typeface="Calibri"/>
              </a:rPr>
              <a:t>Neural re-ranking owns the first page (P@10 +28%).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0"/>
          <p:cNvSpPr/>
          <p:nvPr/>
        </p:nvSpPr>
        <p:spPr>
          <a:xfrm>
            <a:off x="5592960" y="2330640"/>
            <a:ext cx="626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pc="150" strike="noStrike">
                <a:solidFill>
                  <a:srgbClr val="00b050"/>
                </a:solidFill>
                <a:effectLst/>
                <a:uFillTx/>
                <a:latin typeface="Bahnschrift SemiBold"/>
                <a:ea typeface="Calibri"/>
              </a:rPr>
              <a:t>RESULTS — SCORES ACROSS ALL METHODS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6" name="Table 0"/>
          <p:cNvGraphicFramePr/>
          <p:nvPr/>
        </p:nvGraphicFramePr>
        <p:xfrm>
          <a:off x="5592960" y="2704320"/>
          <a:ext cx="6263280" cy="3291840"/>
        </p:xfrm>
        <a:graphic>
          <a:graphicData uri="http://schemas.openxmlformats.org/drawingml/2006/table">
            <a:tbl>
              <a:tblPr/>
              <a:tblGrid>
                <a:gridCol w="2697480"/>
                <a:gridCol w="1188720"/>
                <a:gridCol w="1188720"/>
                <a:gridCol w="1188720"/>
              </a:tblGrid>
              <a:tr h="548640">
                <a:tc>
                  <a:txBody>
                    <a:bodyPr lIns="101520" rIns="10152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Method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10314f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MAP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10314f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P@10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10314f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nDCG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10314f"/>
                    </a:solidFill>
                  </a:tcPr>
                </a:tc>
              </a:tr>
              <a:tr h="548640">
                <a:tc>
                  <a:txBody>
                    <a:bodyPr lIns="101520" rIns="10152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BM25 Baseline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0.311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0.400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0.601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</a:tr>
              <a:tr h="548640">
                <a:tc>
                  <a:txBody>
                    <a:bodyPr lIns="101520" rIns="10152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BM25 + Bo1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2c49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0.387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8c8b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0.454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2c49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0.657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8c8b"/>
                    </a:solidFill>
                  </a:tcPr>
                </a:tc>
              </a:tr>
              <a:tr h="548640">
                <a:tc>
                  <a:txBody>
                    <a:bodyPr lIns="101520" rIns="10152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BM25 + RM3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0.365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0.446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0.634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</a:tr>
              <a:tr h="548640">
                <a:tc>
                  <a:txBody>
                    <a:bodyPr lIns="101520" rIns="10152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BM25 + WordNet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2c49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0.307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2c49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0.404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2c49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0.593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2c49"/>
                    </a:solidFill>
                  </a:tcPr>
                </a:tc>
              </a:tr>
              <a:tr h="548640">
                <a:tc>
                  <a:txBody>
                    <a:bodyPr lIns="101520" rIns="101520" t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BM25 + Neural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0.317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0.510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e8c8b"/>
                    </a:solidFill>
                  </a:tcPr>
                </a:tc>
                <a:tc>
                  <a:txBody>
                    <a:bodyPr lIns="101520" rIns="101520" t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c7d3dd"/>
                          </a:solidFill>
                          <a:effectLst/>
                          <a:uFillTx/>
                          <a:latin typeface="Bahnschrift SemiLight"/>
                          <a:ea typeface="Calibri"/>
                        </a:rPr>
                        <a:t>0.508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37800" marB="37800">
                    <a:lnL w="12240">
                      <a:solidFill>
                        <a:srgbClr val="1b3d5c"/>
                      </a:solidFill>
                      <a:prstDash val="solid"/>
                    </a:lnL>
                    <a:lnR w="12240">
                      <a:solidFill>
                        <a:srgbClr val="1b3d5c"/>
                      </a:solidFill>
                      <a:prstDash val="solid"/>
                    </a:lnR>
                    <a:lnT w="12240">
                      <a:solidFill>
                        <a:srgbClr val="1b3d5c"/>
                      </a:solidFill>
                      <a:prstDash val="solid"/>
                    </a:lnT>
                    <a:lnB w="12240">
                      <a:solidFill>
                        <a:srgbClr val="1b3d5c"/>
                      </a:solidFill>
                      <a:prstDash val="solid"/>
                    </a:lnB>
                    <a:solidFill>
                      <a:srgbClr val="0b2740"/>
                    </a:solidFill>
                  </a:tcPr>
                </a:tc>
              </a:tr>
            </a:tbl>
          </a:graphicData>
        </a:graphic>
      </p:graphicFrame>
      <p:sp>
        <p:nvSpPr>
          <p:cNvPr id="87" name="Text 2"/>
          <p:cNvSpPr/>
          <p:nvPr/>
        </p:nvSpPr>
        <p:spPr>
          <a:xfrm>
            <a:off x="9896400" y="433800"/>
            <a:ext cx="195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lang="tr-TR" sz="900" b="1" u="none" spc="99" strike="noStrike">
                <a:solidFill>
                  <a:srgbClr val="00b050"/>
                </a:solidFill>
                <a:effectLst/>
                <a:uFillTx/>
                <a:latin typeface="Bahnschrift SemiBold"/>
                <a:ea typeface="Calibri"/>
              </a:rPr>
              <a:t>GROUP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389</TotalTime>
  <Application>LibreOffice/25.8.5.2$Linux_X86_64 LibreOffice_project/580$Build-2</Application>
  <AppVersion>15.0000</AppVersion>
  <Words>161</Words>
  <Paragraphs>43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2026-06-01T17:59:17Z</dcterms:created>
  <dc:creator>PptxGenJS</dc:creator>
  <dc:description/>
  <dc:language>en-US</dc:language>
  <cp:lastModifiedBy/>
  <dcterms:modified xsi:type="dcterms:W3CDTF">2026-06-02T18:26:59Z</dcterms:modified>
  <cp:revision>10</cp:revision>
  <dc:subject>PptxGenJS Presentation</dc:subject>
  <dc:title>Query Expansion on BM25 — Poster (Data-Forward)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</vt:i4>
  </property>
</Properties>
</file>